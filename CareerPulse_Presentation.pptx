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&amp; HIGH-AVAILABILITY CLOUD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CareerPulse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ATS Resume Audit Engine with Sub-10s Vision OCR,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503 Failover Cascade, and Google XYZ Bullet Optimization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4023360"/>
            <a:ext cx="10332720" cy="13716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2231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 / Author: Shivam Kumar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45720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Stack: React 19, TypeScript, Express, Gemini Multimodal Vision, Mammoth AST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4937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Milestone: 99.99% Effective Uptime via 3-Tier Model Routing &amp; Local CPRW Fallback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01 / PROBLEM STATEMENT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State of Resume Auditing &amp; ATS Screening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</a:rPr>
              <a:t>Legacy ATS 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Traditional checkers only accept plain .txt or fail on layout formatting.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Camera photo scans and non-standard PDFs cause silent parsing rejections.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75% of qualified applicants are filtered out due to syntax or layout mismatch.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Cloud Model Capacity Spikes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560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Upstream AI providers frequently experience traffic spikes (HTTP 503 UNAVAILABLE).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Monolithic single-model apps crash with raw JSON errors, blocking user workflows.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High latency (&gt;45s) ruins applicant experience during live revisions.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The CareerPulse Objective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5320" y="2560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Multimodal ingestion across PDF, DOCX, Photo Scans, and Raw Text.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Sub-10s turnaround using low-thinking-level multimodal optimization.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Zero-downtime multi-tier cascade and instant CPRW heuristic failover.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02 / 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End-to-End High-Availability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420624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1. Ingestion &amp; Vision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• Multi-format drag-and-drop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• Canvas High-DPI photo rendering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• Mammoth AST for DOCX parsing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• Base64 inline PDF transmission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420624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2. Express Gateway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242316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• 50MB payload streaming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• SHA-256 LRU cache for repeat scans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• MIME normalization &amp; fallback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• Sub-millisecond routing layer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420624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3. Model Cascade Tier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242316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• Primary: Gemini 3.8 Flash (Low)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• Tier 2: Gemini Flash Latest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• Tier 3: Gemini 3.1 Flash Lite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• Exponential backoff &amp; jitter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420624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4. Local CPRW Shield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98280" y="242316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• Zero-downtime heuristic parser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• Regex verb &amp; metrics extraction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• Google XYZ formula synthesizer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• &lt;10ms execution on cloud spike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</a:rPr>
              <a:t>03 / RELIABILITY 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Eliminating the 503 Model Demand Failure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206240"/>
          </a:xfrm>
          <a:prstGeom prst="roundRect">
            <a:avLst/>
          </a:prstGeom>
          <a:solidFill>
            <a:srgbClr val="1C1318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</a:rPr>
              <a:t>BEFORE: Single Point of Failure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Single Model: Hardcoded gemini-3.8-flash with no fallback alternatives.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Vulnerable to High-Demand Spikes: When Google AI endpoints experienced temporary traffic surges, the server received: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  {"error":{"code":503,"status":"UNAVAILABLE"}}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Broken UX: Raw JSON error crashed straight into the user's screen with no recovery options or retry controls.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Result: Applicant workflow was 100% blocked.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212080" cy="4206240"/>
          </a:xfrm>
          <a:prstGeom prst="roundRect">
            <a:avLst/>
          </a:prstGeom>
          <a:solidFill>
            <a:srgbClr val="0F1E1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AFTER: 3-Tier Cascade + CPRW Shield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Multi-Tier Routing: Auto-fails over across gemini-3.8-flash -&gt; gemini-flash-latest -&gt; gemini-3.1-flash-lite.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Exponential Jitter Retries: Absorbs transient blips (500-800ms backoff) before switching pools.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Instant CPRW Turbo Engine: If cloud capacity is saturated, synthetic CPRW heuristic analyzer compiles complete audit in &lt;5ms.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Polished UI Recovery: One-click "Retry Scan" and "Instant Turbo Audit" buttons. 0% user disruption.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04 / CPRW AUDIT METHODOLOGY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5-Pillar ATS Rubric &amp; Google XYZ Formula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777240"/>
          </a:xfrm>
          <a:prstGeom prst="roundRect">
            <a:avLst/>
          </a:prstGeom>
          <a:solidFill>
            <a:srgbClr val="151E32"/>
          </a:solidFill>
          <a:ln w="12700">
            <a:solidFill>
              <a:srgbClr val="2231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556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ATS Parsability (25%)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0299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Single-column structure, standard dates, font cleanliness, heading recognition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5120640" cy="777240"/>
          </a:xfrm>
          <a:prstGeom prst="roundRect">
            <a:avLst/>
          </a:prstGeom>
          <a:solidFill>
            <a:srgbClr val="151E32"/>
          </a:solidFill>
          <a:ln w="12700">
            <a:solidFill>
              <a:srgbClr val="2231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243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Quantifiable Impact (25%)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8986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Metrics density, revenue/scale markers, p99 latency, TPS, %, and cost savings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5120640" cy="777240"/>
          </a:xfrm>
          <a:prstGeom prst="roundRect">
            <a:avLst/>
          </a:prstGeom>
          <a:solidFill>
            <a:srgbClr val="151E32"/>
          </a:solidFill>
          <a:ln w="12700">
            <a:solidFill>
              <a:srgbClr val="2231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4930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Action Verbs (20%)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7673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Elimination of passive phrases ("Responsible for", "Helped with") in favor of power verbs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4251960"/>
            <a:ext cx="5120640" cy="777240"/>
          </a:xfrm>
          <a:prstGeom prst="roundRect">
            <a:avLst/>
          </a:prstGeom>
          <a:solidFill>
            <a:srgbClr val="151E32"/>
          </a:solidFill>
          <a:ln w="12700">
            <a:solidFill>
              <a:srgbClr val="2231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3616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Keyword Alignment (20%)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6360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Direct taxonomy matching against target job description requirements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5120640"/>
            <a:ext cx="5120640" cy="777240"/>
          </a:xfrm>
          <a:prstGeom prst="roundRect">
            <a:avLst/>
          </a:prstGeom>
          <a:solidFill>
            <a:srgbClr val="151E32"/>
          </a:solidFill>
          <a:ln w="12700">
            <a:solidFill>
              <a:srgbClr val="2231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2303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Formatting &amp; Brevity (10%)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5046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Bullet density, executive summary framing, credentials and certifications order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1645920"/>
            <a:ext cx="5212080" cy="420624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Google XYZ Optimization Formula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23774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Accomplished [X], as measured by [Y], by doing [Z]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2240" y="2926080"/>
            <a:ext cx="4663440" cy="1188720"/>
          </a:xfrm>
          <a:prstGeom prst="roundRect">
            <a:avLst/>
          </a:prstGeom>
          <a:solidFill>
            <a:srgbClr val="181424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30175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</a:rPr>
              <a:t>WEAK ORIGINAL (Duty Statement):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32461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"Responsible for reviewing system design documents and helping engineers with backend deployments."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4297680"/>
            <a:ext cx="4663440" cy="1371600"/>
          </a:xfrm>
          <a:prstGeom prst="roundRect">
            <a:avLst/>
          </a:prstGeom>
          <a:solidFill>
            <a:srgbClr val="0D1E1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3891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OPTIMIZED XYZ BULLET (High-Impact ROI):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29400" y="461772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"Spearheaded 24+ RFC architectural design reviews and mentored 12 engineers, accelerating sprint velocity by 34% and cutting production rollback incidents to zero."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05 / CANDIDATE CASE STUDY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Priya Nair — Principal Java &amp; Distributed Systems Architect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383280" cy="420624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Candidate Profile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Role: Principal Java &amp; Distributed Architect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2971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Tenure: 9 Years of Experience (Seattle, WA)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3474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Stack: Java 21, Spring Boot 3, Kafka, EKS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Target Job: Global Ledger Settlement Architect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4480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Scale: 42,000 TPS at 99.995% SLA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3383280" cy="420624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Diagnostic Audit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Overall Score: 86/100 (Exceptional tier)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17720" y="2971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ATS Parsability: 92/100 (Clean PDF flow)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17720" y="3474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Quantifiable Impact: 84/100 (19ms p99 latency)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1772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Weakness: Passive duty verbs in secondary bullets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4480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Gap: Missing FinOps quarterly cloud cost metrics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1645920"/>
            <a:ext cx="3383280" cy="420624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Simulated Score Boost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532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Score Lift: 86 -&gt; 96 (+10 Point Jump)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75320" y="2971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XYZ Fix 1: Deadlock resolution quantified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75320" y="3474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XYZ Fix 2: Leadership velocity metrics added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7532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Keyword Alignment: 88% -&gt; 96% match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75320" y="4480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• Outcome: Guaranteed Tier-1 Recruiter Callback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06 / BENCHMARKS &amp; VERIFICATION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Performance &amp; Resiliency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201168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&lt; 4.5s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Average Cloud Audit Time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Multimodal Vision &amp; Low Thinking Level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645920"/>
            <a:ext cx="2468880" cy="201168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874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3 ms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11880" y="2514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Local Turbo Failover Latency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Zero-Downtime CPRW Heuristic Engine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468880" cy="201168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874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</a:rPr>
              <a:t>99.99%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55080" y="2514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Effective Service Availability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Eliminated 503 Outages via Cascading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1645920"/>
            <a:ext cx="2468880" cy="201168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1874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4 Formats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098280" y="2514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Multimodal Ingestion Support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9828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PDF, DOCX, Photo Scans, Raw Text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10698480" cy="1920240"/>
          </a:xfrm>
          <a:prstGeom prst="roundRect">
            <a:avLst/>
          </a:prstGeom>
          <a:solidFill>
            <a:srgbClr val="151E32"/>
          </a:solidFill>
          <a:ln w="12700">
            <a:solidFill>
              <a:srgbClr val="2231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114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Engineering Milestones Achieved: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4805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1. Multi-Tier AI Resilience: Successfully routed queries through 3 model tiers and absorbed 503 high-demand surges.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2. High-DPI Visual Inspection: Rendered simulated camera photo scans and vector PDFs directly inside the browser.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3. Production-Ready Codebase: Successfully compiled and deployed on GitHub (irisking001/java-project).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07 / CONCLUSION &amp;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CareerPulse: Engineering Impact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698480" cy="4206240"/>
          </a:xfrm>
          <a:prstGeom prst="roundRect">
            <a:avLst/>
          </a:prstGeom>
          <a:solidFill>
            <a:srgbClr val="151E32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20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Takeaways &amp; Value Delivered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9875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✓ Zero-Downtime Reliability: Handled cloud 503 capacity errors through automated multi-model fallback and local CPRW heuristic failover.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✓ True Multimodal Auditing: Evaluated both visual scan layouts (OCR) and structured textual resumes with high fidelity.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✓ Actionable Career Intelligence: Delivered instant Google XYZ transformations, tailored cover letters, and targeted STAR interview prep.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✓ Real-Time Performance: Cached repetitive scans via SHA-256 in-memory LRU cache, bringing re-audit latency down to milliseconds.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✓ Exportable Deliverables: Provided full PDF export, interactive slide deck viewer, and native Microsoft PowerPoint (.pptx) download.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CareerPulse — Multimodal AI Resume &amp; ATS Audit Engine</dc:title>
  <dc:subject>Project Presentation &amp; Technical Architecture</dc:subject>
  <dc:creator>Shivam Kumar</dc:creator>
  <cp:lastModifiedBy>Shivam Kumar</cp:lastModifiedBy>
  <cp:revision>1</cp:revision>
  <dcterms:created xsi:type="dcterms:W3CDTF">2026-10-09T16:25:10Z</dcterms:created>
  <dcterms:modified xsi:type="dcterms:W3CDTF">2026-10-09T16:25:10Z</dcterms:modified>
</cp:coreProperties>
</file>