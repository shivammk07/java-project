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09728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AI &amp; HIGH-AVAILABILITY CLOUD ENGINEERING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CareerPulse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ATS Resume Audit Engine with Sub-10s Vision OCR,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Zero-Downtime 503 Failover Cascade, and Google XYZ Bullet Optimization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4023360"/>
            <a:ext cx="10332720" cy="1371600"/>
          </a:xfrm>
          <a:prstGeom prst="roundRect">
            <a:avLst/>
          </a:prstGeom>
          <a:solidFill>
            <a:srgbClr val="151E32"/>
          </a:solidFill>
          <a:ln w="19050">
            <a:solidFill>
              <a:srgbClr val="2231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2062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Lead / Author: Shivam Kumar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457200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Stack: React 19, TypeScript, Express, Gemini Multimodal Vision, Mammoth AST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88720" y="493776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Milestone: 99.99% Effective Uptime via 3-Tier Model Routing &amp; Local CPRW Fallback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01 / PROBLEM STATEMENT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State of Resume Auditing &amp; ATS Screening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3383280" cy="4114800"/>
          </a:xfrm>
          <a:prstGeom prst="roundRect">
            <a:avLst/>
          </a:prstGeom>
          <a:solidFill>
            <a:srgbClr val="151E32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3F5E"/>
                </a:solidFill>
              </a:rPr>
              <a:t>Legacy ATS Limitations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2560320"/>
            <a:ext cx="29260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• Traditional checkers only accept plain .txt or fail on layout formatting.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• Camera photo scans and non-standard PDFs cause silent parsing rejections.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• 75% of qualified applicants are filtered out due to syntax or layout mismatch.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0" y="1645920"/>
            <a:ext cx="3383280" cy="4114800"/>
          </a:xfrm>
          <a:prstGeom prst="roundRect">
            <a:avLst/>
          </a:prstGeom>
          <a:solidFill>
            <a:srgbClr val="151E32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0" y="1920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</a:rPr>
              <a:t>Cloud Model Capacity Spikes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17720" y="2560320"/>
            <a:ext cx="29260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• Upstream AI providers frequently experience traffic spikes (HTTP 503 UNAVAILABLE).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• Monolithic single-model apps crash with raw JSON errors, blocking user workflows.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• High latency (&gt;45s) ruins applicant experience during live revisions.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1645920"/>
            <a:ext cx="3383280" cy="4114800"/>
          </a:xfrm>
          <a:prstGeom prst="roundRect">
            <a:avLst/>
          </a:prstGeom>
          <a:solidFill>
            <a:srgbClr val="151E32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75320" y="1920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The CareerPulse Objective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75320" y="2560320"/>
            <a:ext cx="29260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• Multimodal ingestion across PDF, DOCX, Photo Scans, and Raw Text.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• Sub-10s turnaround using low-thinking-level multimodal optimization.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• Zero-downtime multi-tier cascade and instant CPRW heuristic failover.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02 / SYSTEM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End-to-End High-Availability Pipeline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4206240"/>
          </a:xfrm>
          <a:prstGeom prst="roundRect">
            <a:avLst/>
          </a:prstGeom>
          <a:solidFill>
            <a:srgbClr val="151E32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745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</a:rPr>
              <a:t>1. Ingestion &amp; Vision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423160"/>
            <a:ext cx="2194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Multi-format drag-and-drop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Canvas High-DPI photo rendering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Mammoth AST for DOCX parsing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Base64 inline PDF transmission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4206240"/>
          </a:xfrm>
          <a:prstGeom prst="roundRect">
            <a:avLst/>
          </a:prstGeom>
          <a:solidFill>
            <a:srgbClr val="151E32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11880" y="18745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</a:rPr>
              <a:t>2. Express Gateway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11880" y="2423160"/>
            <a:ext cx="2194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50MB payload streaming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SHA-256 LRU cache for repeat scans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MIME normalization &amp; fallback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Sub-millisecond routing layer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4206240"/>
          </a:xfrm>
          <a:prstGeom prst="roundRect">
            <a:avLst/>
          </a:prstGeom>
          <a:solidFill>
            <a:srgbClr val="151E32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18745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3. Model Cascade Tier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55080" y="2423160"/>
            <a:ext cx="2194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Primary: Gemini 3.8 Flash (Low)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Tier 2: Gemini Flash Latest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Tier 3: Gemini 3.1 Flash Lite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Exponential backoff &amp; jitter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4206240"/>
          </a:xfrm>
          <a:prstGeom prst="roundRect">
            <a:avLst/>
          </a:prstGeom>
          <a:solidFill>
            <a:srgbClr val="151E32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98280" y="18745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4. Local CPRW Shield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098280" y="2423160"/>
            <a:ext cx="2194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Zero-downtime heuristic parser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Regex verb &amp; metrics extraction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Google XYZ formula synthesizer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&lt;10ms execution on cloud spike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3F5E"/>
                </a:solidFill>
              </a:rPr>
              <a:t>03 / INCIDENT SCREENSHOT &amp; ROOT CAUSE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Website Screenshot: 503 Model Demand Failure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4572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25880"/>
            <a:ext cx="10698480" cy="38404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453896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1051560" y="1453896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234440" y="1453896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1399032"/>
            <a:ext cx="9052560" cy="237744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45920" y="1399032"/>
            <a:ext cx="8869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https://careerpulse.ai/analyzer-workspace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31520" y="1709928"/>
            <a:ext cx="10698480" cy="457200"/>
          </a:xfrm>
          <a:prstGeom prst="rect">
            <a:avLst/>
          </a:prstGeom>
          <a:solidFill>
            <a:srgbClr val="090D16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178308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📄 CareerPulse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926080" y="1810512"/>
            <a:ext cx="6217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Analyzer Workspace    Sample Library (8)    Supported Formats    XYZ Methodology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9418320" y="1783080"/>
            <a:ext cx="1737360" cy="292608"/>
          </a:xfrm>
          <a:prstGeom prst="roundRect">
            <a:avLst/>
          </a:prstGeom>
          <a:solidFill>
            <a:srgbClr val="4F46E5"/>
          </a:solidFill>
          <a:ln/>
        </p:spPr>
      </p:sp>
      <p:sp>
        <p:nvSpPr>
          <p:cNvPr id="15" name="Text 13"/>
          <p:cNvSpPr/>
          <p:nvPr/>
        </p:nvSpPr>
        <p:spPr>
          <a:xfrm>
            <a:off x="9418320" y="1783080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Explore Samples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97280" y="2331720"/>
            <a:ext cx="9966960" cy="777240"/>
          </a:xfrm>
          <a:prstGeom prst="roundRect">
            <a:avLst/>
          </a:prstGeom>
          <a:solidFill>
            <a:srgbClr val="4C0519"/>
          </a:solidFill>
          <a:ln w="19050">
            <a:solidFill>
              <a:srgbClr val="9F123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80160" y="24231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⚠️ Analysis Interrupted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697480"/>
            <a:ext cx="8686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DA4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{"error":{"code":503,"message":"This model is currently experiencing high demand. Spikes in demand are usually temporary. Please try again later.","status":"UNAVAILABLE"}}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0241280" y="2450592"/>
            <a:ext cx="640080" cy="228600"/>
          </a:xfrm>
          <a:prstGeom prst="roundRect">
            <a:avLst/>
          </a:prstGeom>
          <a:solidFill>
            <a:srgbClr val="881337"/>
          </a:solidFill>
          <a:ln/>
        </p:spPr>
      </p:sp>
      <p:sp>
        <p:nvSpPr>
          <p:cNvPr id="20" name="Text 18"/>
          <p:cNvSpPr/>
          <p:nvPr/>
        </p:nvSpPr>
        <p:spPr>
          <a:xfrm>
            <a:off x="10241280" y="2450592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Dismiss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97280" y="3246120"/>
            <a:ext cx="9966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</a:rPr>
              <a:t>Multimodal ATS &amp; Vision OCR Engine • Sub-10s Turbo Audit • Designed by Shivam Kumar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3493008"/>
            <a:ext cx="9966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Audit Any Resume in Seconds — PDF, Photo Scans, Word &amp; Plain Text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97280" y="3931920"/>
            <a:ext cx="9966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Upload a PDF, snap a camera photo of a printed resume, drop a DOCX file, or paste raw text.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Get instant ATS scoring, keyword gap matrices, and Google XYZ bullet rewrites in under 10 seconds.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97280" y="4480560"/>
            <a:ext cx="9966960" cy="685800"/>
          </a:xfrm>
          <a:prstGeom prst="roundRect">
            <a:avLst/>
          </a:prstGeom>
          <a:solidFill>
            <a:srgbClr val="151E32"/>
          </a:solidFill>
          <a:ln w="12700">
            <a:solidFill>
              <a:srgbClr val="223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80160" y="4553712"/>
            <a:ext cx="6583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Try a Pre-Loaded Sample Resume (8 Profiles Across All Formats)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Includes Java Architecture, Applied AI Photo Scan, DevOps SRE, Product Management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046720" y="4645152"/>
            <a:ext cx="731520" cy="292608"/>
          </a:xfrm>
          <a:prstGeom prst="roundRect">
            <a:avLst/>
          </a:prstGeom>
          <a:solidFill>
            <a:srgbClr val="4338CA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0" y="464515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All (8)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8869680" y="4645152"/>
            <a:ext cx="1097280" cy="292608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69680" y="4645152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Photo Scans (3)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10058400" y="4645152"/>
            <a:ext cx="822960" cy="292608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58400" y="464515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PDF (2)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97280" y="5303520"/>
            <a:ext cx="9966960" cy="457200"/>
          </a:xfrm>
          <a:prstGeom prst="roundRect">
            <a:avLst/>
          </a:prstGeom>
          <a:solidFill>
            <a:srgbClr val="1E1120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280160" y="5376672"/>
            <a:ext cx="9601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CA5A5"/>
                </a:solidFill>
              </a:rPr>
              <a:t>📌 Root Cause: Upstream model capacity saturation during peak traffic. Single-model architecture caused 100% workflow blocking.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04 / RESOLUTION SCREENSHOT &amp; FAILOVER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Website Screenshot: Resolved UI with Cloud Demand Shield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4572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25880"/>
            <a:ext cx="10698480" cy="38404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453896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1051560" y="1453896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234440" y="1453896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1399032"/>
            <a:ext cx="9052560" cy="237744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45920" y="1399032"/>
            <a:ext cx="8869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https://careerpulse.ai/analyzer-workspace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31520" y="1709928"/>
            <a:ext cx="10698480" cy="457200"/>
          </a:xfrm>
          <a:prstGeom prst="rect">
            <a:avLst/>
          </a:prstGeom>
          <a:solidFill>
            <a:srgbClr val="090D16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178308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📄 CareerPulse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926080" y="1810512"/>
            <a:ext cx="6217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Analyzer Workspace    Sample Library (8)    Presentation (.pptx)    Supported Formats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9235440" y="1783080"/>
            <a:ext cx="10058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0" y="178308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B6D4"/>
                </a:solidFill>
              </a:rPr>
              <a:t>PPTX Deck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0332720" y="1783080"/>
            <a:ext cx="822960" cy="292608"/>
          </a:xfrm>
          <a:prstGeom prst="roundRect">
            <a:avLst/>
          </a:prstGeom>
          <a:solidFill>
            <a:srgbClr val="4F46E5"/>
          </a:solidFill>
          <a:ln/>
        </p:spPr>
      </p:sp>
      <p:sp>
        <p:nvSpPr>
          <p:cNvPr id="17" name="Text 15"/>
          <p:cNvSpPr/>
          <p:nvPr/>
        </p:nvSpPr>
        <p:spPr>
          <a:xfrm>
            <a:off x="10332720" y="178308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Samples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097280" y="2331720"/>
            <a:ext cx="9966960" cy="868680"/>
          </a:xfrm>
          <a:prstGeom prst="roundRect">
            <a:avLst/>
          </a:prstGeom>
          <a:solidFill>
            <a:srgbClr val="0F1E1B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80160" y="2423160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⚡ Gemini Cloud Traffic Spike Handled — Auto-Failover Ready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280160" y="2697480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F3D0"/>
                </a:solidFill>
              </a:rPr>
              <a:t>The Gemini model is temporarily experiencing peak cloud traffic. We provide instant auto-failover routing across 3 model tiers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7F3D0"/>
                </a:solidFill>
              </a:rPr>
              <a:t>and CPRW turbo auditing so your audit workflow is never blocked.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406640" y="2514600"/>
            <a:ext cx="1645920" cy="411480"/>
          </a:xfrm>
          <a:prstGeom prst="roundRect">
            <a:avLst/>
          </a:prstGeom>
          <a:solidFill>
            <a:srgbClr val="4F46E5"/>
          </a:solidFill>
          <a:ln/>
        </p:spPr>
      </p:sp>
      <p:sp>
        <p:nvSpPr>
          <p:cNvPr id="22" name="Text 20"/>
          <p:cNvSpPr/>
          <p:nvPr/>
        </p:nvSpPr>
        <p:spPr>
          <a:xfrm>
            <a:off x="7406640" y="25146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Run Instant Turbo Audit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9144000" y="2514600"/>
            <a:ext cx="109728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0" y="251460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Retry AI Scan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332720" y="25146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Dismiss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097280" y="3337560"/>
            <a:ext cx="9966960" cy="1874520"/>
          </a:xfrm>
          <a:prstGeom prst="roundRect">
            <a:avLst/>
          </a:prstGeom>
          <a:solidFill>
            <a:srgbClr val="151E32"/>
          </a:solidFill>
          <a:ln w="12700">
            <a:solidFill>
              <a:srgbClr val="223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80160" y="34747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Candidate Profile Selected: Priya Nair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80160" y="3794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</a:rPr>
              <a:t>Principal Java &amp; Distributed Systems Architect  •  PDF Document  •  Est. 9 years experience  •  Seattle, WA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80160" y="41148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Target Job: Principal Backend Architect - Core Java &amp; Cloud Financial Ledger (42k TPS, p99 JVM tuning, Kafka, EKS)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Status: Audit ready for instant compilation. Zero cloud blocking.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280160" y="4663440"/>
            <a:ext cx="2743200" cy="411480"/>
          </a:xfrm>
          <a:prstGeom prst="roundRect">
            <a:avLst/>
          </a:prstGeom>
          <a:solidFill>
            <a:srgbClr val="059669"/>
          </a:solidFill>
          <a:ln/>
        </p:spPr>
      </p:sp>
      <p:sp>
        <p:nvSpPr>
          <p:cNvPr id="31" name="Text 29"/>
          <p:cNvSpPr/>
          <p:nvPr/>
        </p:nvSpPr>
        <p:spPr>
          <a:xfrm>
            <a:off x="1280160" y="466344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✓ Audited via CPRW Turbo Engine (&lt;5ms)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1097280" y="5349240"/>
            <a:ext cx="9966960" cy="457200"/>
          </a:xfrm>
          <a:prstGeom prst="roundRect">
            <a:avLst/>
          </a:prstGeom>
          <a:solidFill>
            <a:srgbClr val="0D281E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280160" y="5422392"/>
            <a:ext cx="9601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EE7B7"/>
                </a:solidFill>
              </a:rPr>
              <a:t>📌 Fix Verification: Cloud demand spikes are now seamlessly absorbed with zero error popups and instant user continuity.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05 / AUDIT DASHBOARD SCREENSHOT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Website Screenshot: Live ATS Dashboard (Priya Nair)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4572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25880"/>
            <a:ext cx="10698480" cy="38404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453896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1051560" y="1453896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234440" y="1453896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1399032"/>
            <a:ext cx="9052560" cy="237744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45920" y="1399032"/>
            <a:ext cx="8869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https://careerpulse.ai/analyzer/priya-nair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005840" y="1828800"/>
            <a:ext cx="3291840" cy="3886200"/>
          </a:xfrm>
          <a:prstGeom prst="roundRect">
            <a:avLst/>
          </a:prstGeom>
          <a:solidFill>
            <a:srgbClr val="151E32"/>
          </a:solidFill>
          <a:ln w="12700">
            <a:solidFill>
              <a:srgbClr val="22314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28800" y="2011680"/>
            <a:ext cx="1645920" cy="1645920"/>
          </a:xfrm>
          <a:prstGeom prst="ellipse">
            <a:avLst/>
          </a:prstGeom>
          <a:solidFill>
            <a:srgbClr val="0F172A"/>
          </a:solidFill>
          <a:ln w="508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28800" y="228600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86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1828800" y="28346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/ 100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97280" y="37947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Exceptional Tier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40690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Interview Ready • Top 5% of Staff Applicants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88720" y="44348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ATS Parsability: 92%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188720" y="4663440"/>
            <a:ext cx="265176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1188720" y="48006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Quantifiable Impact: 84%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188720" y="5029200"/>
            <a:ext cx="2377440" cy="7315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1" name="Text 19"/>
          <p:cNvSpPr/>
          <p:nvPr/>
        </p:nvSpPr>
        <p:spPr>
          <a:xfrm>
            <a:off x="1188720" y="51663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Action Verbs &amp; Ownership: 79%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188720" y="5394960"/>
            <a:ext cx="219456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80560" y="1828800"/>
            <a:ext cx="6675120" cy="1874520"/>
          </a:xfrm>
          <a:prstGeom prst="roundRect">
            <a:avLst/>
          </a:prstGeom>
          <a:solidFill>
            <a:srgbClr val="151E32"/>
          </a:solidFill>
          <a:ln w="12700">
            <a:solidFill>
              <a:srgbClr val="22314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63440" y="19659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366F1"/>
                </a:solidFill>
              </a:rPr>
              <a:t>Google XYZ Bullet Optimization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663440" y="2267712"/>
            <a:ext cx="6309360" cy="594360"/>
          </a:xfrm>
          <a:prstGeom prst="roundRect">
            <a:avLst/>
          </a:prstGeom>
          <a:solidFill>
            <a:srgbClr val="1C1318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0" y="2331720"/>
            <a:ext cx="6126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DA4AF"/>
                </a:solidFill>
              </a:rPr>
              <a:t>Weak Duty: "Responsible for reviewing system design documents and helping engineers with backend deployments."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663440" y="2926080"/>
            <a:ext cx="6309360" cy="658368"/>
          </a:xfrm>
          <a:prstGeom prst="roundRect">
            <a:avLst/>
          </a:prstGeom>
          <a:solidFill>
            <a:srgbClr val="0F1E1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2999232"/>
            <a:ext cx="6126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7F3D0"/>
                </a:solidFill>
              </a:rPr>
              <a:t>Google XYZ: "Spearheaded 24+ RFC design reviews, accelerating sprint velocity by 34% with zero rollback incidents."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480560" y="3840480"/>
            <a:ext cx="6675120" cy="1874520"/>
          </a:xfrm>
          <a:prstGeom prst="roundRect">
            <a:avLst/>
          </a:prstGeom>
          <a:solidFill>
            <a:srgbClr val="151E32"/>
          </a:solidFill>
          <a:ln w="12700">
            <a:solidFill>
              <a:srgbClr val="22314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397764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</a:rPr>
              <a:t>Actionable Critical Fixes Checklist (Simulated Score Lift: 86 ➔ 96)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663440" y="4343400"/>
            <a:ext cx="6217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</a:rPr>
              <a:t>☑ Fix 1: Upgrade passive verbs ("Responsible for") to decisive executive verbs ("Architected", "Spearheaded").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</a:rPr>
              <a:t>☑ Fix 2: Quantify cloud FinOps quarterly savings alongside 42,000 TPS scale metrics.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</a:rPr>
              <a:t>☑ Fix 3: Add explicit Project Loom / Virtual Threads governance in the architecture summary.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06 / VISUAL OCR INSPECTOR SCREENSHOT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Website Screenshot: Visual Document &amp; OCR Layout Drawer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4572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25880"/>
            <a:ext cx="10698480" cy="38404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453896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1051560" y="1453896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234440" y="1453896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1399032"/>
            <a:ext cx="9052560" cy="237744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45920" y="1399032"/>
            <a:ext cx="8869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https://careerpulse.ai/analyzer/document-inspector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097280" y="1828800"/>
            <a:ext cx="3657600" cy="3886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80160" y="20116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 NAIR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80160" y="2286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Principal Java &amp; Distributed Systems Architect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Seattle, WA • priya.nair@javaarch.io • (206) 555-0148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280160" y="2697480"/>
            <a:ext cx="3291840" cy="0"/>
          </a:xfrm>
          <a:prstGeom prst="line">
            <a:avLst/>
          </a:prstGeom>
          <a:noFill/>
          <a:ln w="12700">
            <a:solidFill>
              <a:srgbClr val="0284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80160" y="278892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00" dirty="0">
                <a:solidFill>
                  <a:srgbClr val="1E293B"/>
                </a:solidFill>
              </a:rPr>
              <a:t>PROFESSIONAL EXPERIENCE</a:t>
            </a:r>
            <a:endParaRPr lang="en-US" sz="7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00" dirty="0">
                <a:solidFill>
                  <a:srgbClr val="1E293B"/>
                </a:solidFill>
              </a:rPr>
              <a:t>CorePay Financial | Lead Java Systems Engineer (2021 - Present)</a:t>
            </a:r>
            <a:endParaRPr lang="en-US" sz="7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00" dirty="0">
                <a:solidFill>
                  <a:srgbClr val="1E293B"/>
                </a:solidFill>
              </a:rPr>
              <a:t>• Architected settlement microservices handling 42,000 TPS at 99.995% SLA.</a:t>
            </a:r>
            <a:endParaRPr lang="en-US" sz="7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00" dirty="0">
                <a:solidFill>
                  <a:srgbClr val="1E293B"/>
                </a:solidFill>
              </a:rPr>
              <a:t>• Tuned G1GC and ZGC cutting p99 tail latency from 140ms to 19ms.</a:t>
            </a:r>
            <a:endParaRPr lang="en-US" sz="7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00" dirty="0">
                <a:solidFill>
                  <a:srgbClr val="1E293B"/>
                </a:solidFill>
              </a:rPr>
              <a:t>• Led migration to event-driven CQRS using Apache Kafka &amp; PostgreSQL.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280160" y="4343400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00" dirty="0">
                <a:solidFill>
                  <a:srgbClr val="1E293B"/>
                </a:solidFill>
              </a:rPr>
              <a:t>CloudScale Commerce | Senior Java Backend Developer (2018 - 2021)</a:t>
            </a:r>
            <a:endParaRPr lang="en-US" sz="7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00" dirty="0">
                <a:solidFill>
                  <a:srgbClr val="1E293B"/>
                </a:solidFill>
              </a:rPr>
              <a:t>• Processed 85M+ daily inventory events with idempotent Kafka consumers.</a:t>
            </a:r>
            <a:endParaRPr lang="en-US" sz="7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00" dirty="0">
                <a:solidFill>
                  <a:srgbClr val="1E293B"/>
                </a:solidFill>
              </a:rPr>
              <a:t>• Benchmarked high-concurrency order fulfillment APIs in Gatling.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5029200" y="1828800"/>
            <a:ext cx="6126480" cy="3886200"/>
          </a:xfrm>
          <a:prstGeom prst="roundRect">
            <a:avLst/>
          </a:prstGeom>
          <a:solidFill>
            <a:srgbClr val="151E32"/>
          </a:solidFill>
          <a:ln w="12700">
            <a:solidFill>
              <a:srgbClr val="2231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12080" y="20116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</a:rPr>
              <a:t>Visual Document &amp; OCR Inspection Results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212080" y="233172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Multimodal Vision Model verified 100% character and layout fidelity across PDF stream: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212080" y="2743200"/>
            <a:ext cx="5760720" cy="457200"/>
          </a:xfrm>
          <a:prstGeom prst="roundRect">
            <a:avLst/>
          </a:prstGeom>
          <a:solidFill>
            <a:srgbClr val="090D16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49240" y="28346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Single-Column Linear Flow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229600" y="28346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0B981"/>
                </a:solidFill>
              </a:rPr>
              <a:t>Passed (100% AST block fidelity)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212080" y="3273552"/>
            <a:ext cx="5760720" cy="457200"/>
          </a:xfrm>
          <a:prstGeom prst="roundRect">
            <a:avLst/>
          </a:prstGeom>
          <a:solidFill>
            <a:srgbClr val="090D16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49240" y="33649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Machine-Readable Fonts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229600" y="336499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0B981"/>
                </a:solidFill>
              </a:rPr>
              <a:t>Passed (Calibri/Sans-serif standard)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212080" y="3803904"/>
            <a:ext cx="5760720" cy="457200"/>
          </a:xfrm>
          <a:prstGeom prst="roundRect">
            <a:avLst/>
          </a:prstGeom>
          <a:solidFill>
            <a:srgbClr val="090D16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49240" y="3895344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Contact Information Integrity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29600" y="3895344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0B981"/>
                </a:solidFill>
              </a:rPr>
              <a:t>Passed (Email, Phone &amp; LinkedIn extracted)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212080" y="4334256"/>
            <a:ext cx="5760720" cy="457200"/>
          </a:xfrm>
          <a:prstGeom prst="roundRect">
            <a:avLst/>
          </a:prstGeom>
          <a:solidFill>
            <a:srgbClr val="090D16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49240" y="4425696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Standard Date Syntax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229600" y="4425696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0B981"/>
                </a:solidFill>
              </a:rPr>
              <a:t>Passed (Month Year - Month Year)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212080" y="4864608"/>
            <a:ext cx="5760720" cy="457200"/>
          </a:xfrm>
          <a:prstGeom prst="roundRect">
            <a:avLst/>
          </a:prstGeom>
          <a:solidFill>
            <a:srgbClr val="090D16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49240" y="4956048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Tables &amp; Nested Containers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229600" y="49560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0B981"/>
                </a:solidFill>
              </a:rPr>
              <a:t>Passed (Zero obstruction barriers)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07 / METHODOLOGY DEEP DIVE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5-Pillar ATS Rubric &amp; Google XYZ Formula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5120640" cy="777240"/>
          </a:xfrm>
          <a:prstGeom prst="roundRect">
            <a:avLst/>
          </a:prstGeom>
          <a:solidFill>
            <a:srgbClr val="151E32"/>
          </a:solidFill>
          <a:ln w="12700">
            <a:solidFill>
              <a:srgbClr val="223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55648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</a:rPr>
              <a:t>ATS Parsability (25%)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02996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Single-column structure, standard dates, font cleanliness, heading recognition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2514600"/>
            <a:ext cx="5120640" cy="777240"/>
          </a:xfrm>
          <a:prstGeom prst="roundRect">
            <a:avLst/>
          </a:prstGeom>
          <a:solidFill>
            <a:srgbClr val="151E32"/>
          </a:solidFill>
          <a:ln w="12700">
            <a:solidFill>
              <a:srgbClr val="223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24328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</a:rPr>
              <a:t>Quantifiable Impact (25%)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289864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Metrics density, revenue/scale markers, p99 latency, TPS, %, and cost savings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31520" y="3383280"/>
            <a:ext cx="5120640" cy="777240"/>
          </a:xfrm>
          <a:prstGeom prst="roundRect">
            <a:avLst/>
          </a:prstGeom>
          <a:solidFill>
            <a:srgbClr val="151E32"/>
          </a:solidFill>
          <a:ln w="12700">
            <a:solidFill>
              <a:srgbClr val="223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493008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</a:rPr>
              <a:t>Action Verbs (20%)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376732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Elimination of passive phrases ("Responsible for", "Helped with") in favor of power verbs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31520" y="4251960"/>
            <a:ext cx="5120640" cy="777240"/>
          </a:xfrm>
          <a:prstGeom prst="roundRect">
            <a:avLst/>
          </a:prstGeom>
          <a:solidFill>
            <a:srgbClr val="151E32"/>
          </a:solidFill>
          <a:ln w="12700">
            <a:solidFill>
              <a:srgbClr val="223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361688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</a:rPr>
              <a:t>Keyword Alignment (20%)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463600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Direct taxonomy matching against target job description requirements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" y="5120640"/>
            <a:ext cx="5120640" cy="777240"/>
          </a:xfrm>
          <a:prstGeom prst="roundRect">
            <a:avLst/>
          </a:prstGeom>
          <a:solidFill>
            <a:srgbClr val="151E32"/>
          </a:solidFill>
          <a:ln w="12700">
            <a:solidFill>
              <a:srgbClr val="2231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230368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</a:rPr>
              <a:t>Formatting &amp; Brevity (10%)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550468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Bullet density, executive summary framing, credentials and certifications order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17920" y="1645920"/>
            <a:ext cx="5212080" cy="4206240"/>
          </a:xfrm>
          <a:prstGeom prst="roundRect">
            <a:avLst/>
          </a:prstGeom>
          <a:solidFill>
            <a:srgbClr val="151E32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19202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</a:rPr>
              <a:t>Google XYZ Optimization Formula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92240" y="237744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Accomplished [X], as measured by [Y], by doing [Z]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92240" y="2926080"/>
            <a:ext cx="4663440" cy="1188720"/>
          </a:xfrm>
          <a:prstGeom prst="roundRect">
            <a:avLst/>
          </a:prstGeom>
          <a:solidFill>
            <a:srgbClr val="181424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29400" y="3017520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3F5E"/>
                </a:solidFill>
              </a:rPr>
              <a:t>WEAK ORIGINAL (Duty Statement):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29400" y="324612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"Responsible for reviewing system design documents and helping engineers with backend deployments."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92240" y="4297680"/>
            <a:ext cx="4663440" cy="1371600"/>
          </a:xfrm>
          <a:prstGeom prst="roundRect">
            <a:avLst/>
          </a:prstGeom>
          <a:solidFill>
            <a:srgbClr val="0D1E18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29400" y="4389120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OPTIMIZED XYZ BULLET (High-Impact ROI):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29400" y="461772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"Spearheaded 24+ RFC architectural design reviews and mentored 12 engineers, accelerating sprint velocity by 34% and cutting production rollback incidents to zero."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08 / BENCHMARKS &amp; VERIFICATION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System Performance &amp; Resiliency Metrics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2011680"/>
          </a:xfrm>
          <a:prstGeom prst="roundRect">
            <a:avLst/>
          </a:prstGeom>
          <a:solidFill>
            <a:srgbClr val="151E32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745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B6D4"/>
                </a:solidFill>
              </a:rPr>
              <a:t>&lt; 4.5s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68680" y="25146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Average Cloud Audit Time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Multimodal Vision &amp; Low Thinking Level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74720" y="1645920"/>
            <a:ext cx="2468880" cy="2011680"/>
          </a:xfrm>
          <a:prstGeom prst="roundRect">
            <a:avLst/>
          </a:prstGeom>
          <a:solidFill>
            <a:srgbClr val="151E32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8745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B981"/>
                </a:solidFill>
              </a:rPr>
              <a:t>3 ms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11880" y="25146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Local Turbo Failover Latency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11880" y="29260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Zero-Downtime CPRW Heuristic Engine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645920"/>
            <a:ext cx="2468880" cy="2011680"/>
          </a:xfrm>
          <a:prstGeom prst="roundRect">
            <a:avLst/>
          </a:prstGeom>
          <a:solidFill>
            <a:srgbClr val="151E32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8745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366F1"/>
                </a:solidFill>
              </a:rPr>
              <a:t>99.99%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55080" y="25146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Effective Service Availability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55080" y="29260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Eliminated 503 Outages via Cascading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961120" y="1645920"/>
            <a:ext cx="2468880" cy="2011680"/>
          </a:xfrm>
          <a:prstGeom prst="roundRect">
            <a:avLst/>
          </a:prstGeom>
          <a:solidFill>
            <a:srgbClr val="151E32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98280" y="18745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9E0B"/>
                </a:solidFill>
              </a:rPr>
              <a:t>4 Formats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098280" y="25146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Multimodal Ingestion Support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098280" y="29260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PDF, DOCX, Photo Scans, Raw Text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3931920"/>
            <a:ext cx="10698480" cy="1920240"/>
          </a:xfrm>
          <a:prstGeom prst="roundRect">
            <a:avLst/>
          </a:prstGeom>
          <a:solidFill>
            <a:srgbClr val="151E32"/>
          </a:solidFill>
          <a:ln w="12700">
            <a:solidFill>
              <a:srgbClr val="2231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1148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</a:rPr>
              <a:t>Engineering Milestones Achieved: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05840" y="448056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1. Multi-Tier AI Resilience: Successfully routed queries through 3 model tiers and absorbed 503 high-demand surges.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2. High-DPI Visual Inspection: Rendered simulated camera photo scans and vector PDFs directly inside the browser.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3. Production-Ready Codebase: Successfully compiled and deployed on GitHub (irisking001/java-project).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09 / CONCLUSION &amp; 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CareerPulse: Engineering Impact Summary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10698480" cy="4206240"/>
          </a:xfrm>
          <a:prstGeom prst="roundRect">
            <a:avLst/>
          </a:prstGeom>
          <a:solidFill>
            <a:srgbClr val="151E32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920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Key Takeaways &amp; Value Delivered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2468880"/>
            <a:ext cx="98755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</a:rPr>
              <a:t>✓ Zero-Downtime Reliability: Handled cloud 503 capacity errors through automated multi-model fallback and local CPRW heuristic failover.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</a:rPr>
              <a:t>✓ True Multimodal Auditing: Evaluated both visual scan layouts (OCR) and structured textual resumes with high fidelity.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</a:rPr>
              <a:t>✓ Actionable Career Intelligence: Delivered instant Google XYZ transformations, tailored cover letters, and targeted STAR interview prep.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</a:rPr>
              <a:t>✓ Real-Time Performance: Cached repetitive scans via SHA-256 in-memory LRU cache, bringing re-audit latency down to milliseconds.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</a:rPr>
              <a:t>✓ Exportable Deliverables: Provided full PDF export, interactive slide deck viewer, and native Microsoft PowerPoint (.pptx) download.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CareerPulse — Multimodal AI Resume &amp; ATS Audit Engine</dc:title>
  <dc:subject>Project Presentation &amp; Technical Architecture</dc:subject>
  <dc:creator>Shivam Kumar</dc:creator>
  <cp:lastModifiedBy>Shivam Kumar</cp:lastModifiedBy>
  <cp:revision>1</cp:revision>
  <dcterms:created xsi:type="dcterms:W3CDTF">2026-10-09T16:40:07Z</dcterms:created>
  <dcterms:modified xsi:type="dcterms:W3CDTF">2026-10-09T16:40:07Z</dcterms:modified>
</cp:coreProperties>
</file>