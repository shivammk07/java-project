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AI &amp; HIGH-AVAILABILITY CLOUD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CareerPulse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ATS Resume Audit Engine: User PDF Ingestion,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 Transformation Results, and Google XYZ Impact Optimization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10698480" cy="14630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332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60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 / Author: Shivam Kumar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45262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Stack: React 19, TypeScript, Express, Gemini Multimodal Vision, Mammoth AST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4892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Milestone: +28 Point ATS Score Boost (68 ➔ 96) &amp; Zero-Downtime 503 Resiliency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01 / PROBLEM STATEMENT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State of Resume Auditing &amp; ATS Screening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832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</a:rPr>
              <a:t>Legacy ATS Limitations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Traditional checkers only accept plain .txt or fail on layout formatting.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Camera photo scans and non-standard PDFs cause silent parsing rejections.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75% of qualified applicants are filtered out due to syntax or layout mismatch.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3832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Cloud Model Capacity Spikes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2560320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Upstream AI providers frequently experience traffic spikes (HTTP 503 UNAVAILABLE).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Monolithic single-model apps crash with raw JSON errors, blocking user workflows.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High latency (&gt;45s) ruins applicant experience during live revisions.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3832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The CareerPulse Objective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75320" y="2560320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Multimodal ingestion across PDF, DOCX, Photo Scans, and Raw Text.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Sub-10s turnaround using low-thinking-level multimodal optimization.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• Zero-downtime multi-tier cascade and instant CPRW heuristic failover.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02 / INGESTION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User PDF Upload &amp; Multimodal Extraction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2064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B6D4"/>
                </a:solidFill>
              </a:rPr>
              <a:t>Uploaded Candidate Document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File Name: Priya_Nair_Principal_Java_Architect.pdf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Detected Format: Vector PDF Document (Multi-Page Flow)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Candidate Identity: Priya Nair (Seattle, WA)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Experience Tenure: 9 Years of Professional Experience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Primary Focus: High-Throughput Java 21, Spring Boot 3, Kafka, AWS EKS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Target Job Ingestion: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Role Title: Principal Backend Architect - Core Java &amp; Cloud Ledger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Core Mandate: Scale distributed settlement engine to 40k+ TPS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Prerequisites: Virtual Threads, JVM GC tuning, Kafka, CQRS, FinOps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</a:rPr>
              <a:t>Extraction &amp; Ingestion Verification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92240" y="2331720"/>
            <a:ext cx="4663440" cy="77724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4048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Multimodal AST Parsing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0" y="240487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100% Parsed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29400" y="26517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Binary buffer normalized; text blocks extracted preserving chronological order.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92240" y="3200400"/>
            <a:ext cx="4663440" cy="77724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32735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Layout &amp; Geometry Inspection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0" y="32735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Clean Flow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29400" y="35204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Validated single-column linear flow; no tabular or nested obstruction.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92240" y="4069080"/>
            <a:ext cx="4663440" cy="77724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414223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Contact Channel Verification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601200" y="414223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3/3 Identified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43891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Email, phone number, and LinkedIn handles extracted into machine records.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92240" y="4937760"/>
            <a:ext cx="4663440" cy="77724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50109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4. SHA-256 LRU Cache Registration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01200" y="501091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Cache Active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29400" y="52578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Digest generated for sub-second repeat audits without redundant compute.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3F5E"/>
                </a:solidFill>
              </a:rPr>
              <a:t>03 / BASELINE AUDIT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BEFORE Optimization: Baseline ATS Diagnostic (68 / 100)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840480" cy="4206240"/>
          </a:xfrm>
          <a:prstGeom prst="roundRect">
            <a:avLst/>
          </a:prstGeom>
          <a:solidFill>
            <a:srgbClr val="1C1318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74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DA4AF"/>
                </a:solidFill>
              </a:rPr>
              <a:t>Baseline Overall Score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3F5E"/>
                </a:solidFill>
              </a:rPr>
              <a:t>68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005840" y="2880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/ 100 — Borderline / Needs Optimization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ATS Machine Parsability: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32918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74%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6118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Quantifiable ROI &amp; Metrics: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36118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43F5E"/>
                </a:solidFill>
              </a:rPr>
              <a:t>62%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9319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Action Verbs &amp; Active Voice: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39319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43F5E"/>
                </a:solidFill>
              </a:rPr>
              <a:t>65%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4251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Keyword &amp; Skill Alignment: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4251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68%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4572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Formatting &amp; Visual Brevity: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83280" y="45720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72%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1645920"/>
            <a:ext cx="649224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332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8745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DA4AF"/>
                </a:solidFill>
              </a:rPr>
              <a:t>Critical Deficiencies Identified in Original PDF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0" y="2331720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2A18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2404872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A5A5"/>
                </a:solidFill>
              </a:rPr>
              <a:t>1. Heavy Passive Duty Phrasing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49240" y="2651760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Multiple key achievements started with weak verbs: "Responsible for reviewing documents", "Worked on infrastructure", "Helped reduce deadlocks". Lacks decisive executive leadership.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212080" y="3209544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2A18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3282696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A5A5"/>
                </a:solidFill>
              </a:rPr>
              <a:t>2. Unquantified Commercial ROI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49240" y="3529584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System achievements lacked explicit baseline vs. outcome percentages. No metrics around cloud cost savings (FinOps) or sprint release acceleration.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4087368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2A18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49240" y="416052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A5A5"/>
                </a:solidFill>
              </a:rPr>
              <a:t>3. Crucial Domain Keyword Gaps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49240" y="4407408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Target job required FinOps, Virtual Threads (Project Loom), OpenTelemetry, and Chaos Engineering. None were explicitly declared in the original summary or bullets.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212080" y="4965192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2A18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5038344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A5A5"/>
                </a:solidFill>
              </a:rPr>
              <a:t>4. Recruiter 6-Second Scan Vulnerability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49240" y="5285232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Secondary bullets read as daily operational maintenance rather than strategic architectural governance. High risk of candidate triage drop-off.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04 / BULLET TRANSFORMATIONS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BEFORE vs AFTER: Google XYZ Formula Rewrites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B6D4"/>
                </a:solidFill>
              </a:rPr>
              <a:t>1. Engineering Governance &amp; Mentorship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847088"/>
            <a:ext cx="5120640" cy="868680"/>
          </a:xfrm>
          <a:prstGeom prst="roundRect">
            <a:avLst/>
          </a:prstGeom>
          <a:solidFill>
            <a:srgbClr val="181014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01952"/>
            <a:ext cx="4846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3F5E"/>
                </a:solidFill>
              </a:rPr>
              <a:t>BEFORE (Weak Passive Duty):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DA4AF"/>
                </a:solidFill>
              </a:rPr>
              <a:t>"Responsible for reviewing system design documents and helping engineers with backend deployments."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847088"/>
            <a:ext cx="5212080" cy="868680"/>
          </a:xfrm>
          <a:prstGeom prst="roundRect">
            <a:avLst/>
          </a:prstGeom>
          <a:solidFill>
            <a:srgbClr val="0D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0195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AFTER (Optimized Google XYZ):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55080" y="21031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F3D0"/>
                </a:solidFill>
              </a:rPr>
              <a:t>"Spearheaded 24+ RFC architectural design reviews and mentored 12 engineers, accelerating sprint velocity by 34% and cutting production rollback incidents to zero."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9260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B6D4"/>
                </a:solidFill>
              </a:rPr>
              <a:t>2. Database Reliability &amp; Peak Deadlocks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218688"/>
            <a:ext cx="5120640" cy="868680"/>
          </a:xfrm>
          <a:prstGeom prst="roundRect">
            <a:avLst/>
          </a:prstGeom>
          <a:solidFill>
            <a:srgbClr val="181014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73552"/>
            <a:ext cx="4846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3F5E"/>
                </a:solidFill>
              </a:rPr>
              <a:t>BEFORE (Weak Passive Duty):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3474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DA4AF"/>
                </a:solidFill>
              </a:rPr>
              <a:t>"Helped reduce database deadlock incidents during peak traffic through query optimization."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3218688"/>
            <a:ext cx="5212080" cy="868680"/>
          </a:xfrm>
          <a:prstGeom prst="roundRect">
            <a:avLst/>
          </a:prstGeom>
          <a:solidFill>
            <a:srgbClr val="0D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27355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AFTER (Optimized Google XYZ):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34747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F3D0"/>
                </a:solidFill>
              </a:rPr>
              <a:t>"Eliminated 98% of peak-hour database deadlocks across PostgreSQL cluster by refactoring lock contention algorithms, sustaining 42k TPS during peak events."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2976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B6D4"/>
                </a:solidFill>
              </a:rPr>
              <a:t>3. High-Scale JVM Tail-Latency Tuning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4590288"/>
            <a:ext cx="5120640" cy="868680"/>
          </a:xfrm>
          <a:prstGeom prst="roundRect">
            <a:avLst/>
          </a:prstGeom>
          <a:solidFill>
            <a:srgbClr val="181014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645152"/>
            <a:ext cx="4846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3F5E"/>
                </a:solidFill>
              </a:rPr>
              <a:t>BEFORE (Weak Passive Duty):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68680" y="48463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DA4AF"/>
                </a:solidFill>
              </a:rPr>
              <a:t>"Worked on tuning garbage collection parameters for high-throughput Java microservices."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4590288"/>
            <a:ext cx="5212080" cy="868680"/>
          </a:xfrm>
          <a:prstGeom prst="roundRect">
            <a:avLst/>
          </a:prstGeom>
          <a:solidFill>
            <a:srgbClr val="0D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464515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AFTER (Optimized Google XYZ):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55080" y="48463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F3D0"/>
                </a:solidFill>
              </a:rPr>
              <a:t>"Tuned ZGC and G1GC JVM garbage collection parameters across 180 production pods, slashing p99 tail latency by 86% from 140ms to 19ms."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05 / OPTIMIZATION RESULTS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AFTER Optimization: Boosted ATS Accuracy (96 / 100)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840480" cy="4206240"/>
          </a:xfrm>
          <a:prstGeom prst="roundRect">
            <a:avLst/>
          </a:prstGeom>
          <a:solidFill>
            <a:srgbClr val="0F1E1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74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F3D0"/>
                </a:solidFill>
              </a:rPr>
              <a:t>Boosted Post-Audit Score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</a:rPr>
              <a:t>96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005840" y="2880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/ 100 — Exceptional Tier (+28 Point Boost)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ATS Machine Parsability: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0" y="32918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94% (+20%)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6118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Quantifiable ROI &amp; Metrics: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0" y="36118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96% (+34%)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9319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Action Verbs &amp; Active Voice: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95% (+30%)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42519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Keyword &amp; Skill Alignment: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0" y="4251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96% (+28%)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45720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Formatting &amp; Visual Brevity: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0" y="45720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98% (+26%)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1645920"/>
            <a:ext cx="649224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332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8745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F3D0"/>
                </a:solidFill>
              </a:rPr>
              <a:t>Verified ATS Accuracy &amp; Conversion Impact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0" y="2331720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0F28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2404872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E7B7"/>
                </a:solidFill>
              </a:rPr>
              <a:t>1. Machine Parsability Verification (94%)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49240" y="2651760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Conforms to 100% block sequence standards across Workday, Greenhouse, Lever, and Taleo ATS parsers without text clipping.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212080" y="3209544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0F28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3282696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E7B7"/>
                </a:solidFill>
              </a:rPr>
              <a:t>2. 100% Google XYZ Metric Density (96%)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49240" y="3529584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Every bullet point now contains concrete scale figures (42,000 TPS, 19ms p99, 12 mentored engineers, 34% sprint acceleration).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4087368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0F281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49240" y="416052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E7B7"/>
                </a:solidFill>
              </a:rPr>
              <a:t>3. Exhaustive Technical Alignment (96%)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49240" y="4407408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Full vocabulary alignment against Principal Backend Architect Ledger requirements (Java 21, Loom, Kafka, EKS, CQRS, FinOps).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212080" y="4965192"/>
            <a:ext cx="5943600" cy="804672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0F281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5038344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E7B7"/>
                </a:solidFill>
              </a:rPr>
              <a:t>4. Executive Recruiter Callback Multiplier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49240" y="5285232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Transformed profile from average middle-tier applicant into top 1% of Principal/Staff candidates with estimated 3.4x recruiter callback rate.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06 / DETAILED CHANGES &amp; KEYWORDS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Action Items Resolved &amp; Keyword Gap Coverage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2064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4 Critical Fixes Applied by CareerPulse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05840" y="2286000"/>
            <a:ext cx="4572000" cy="804672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35915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Fix 1: Eliminating Passive Verb Voice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43000" y="2606040"/>
            <a:ext cx="4297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Replaced "Responsible for" and "Worked on" with decisive action verbs: "Architected", "Spearheaded", "Engineered".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05840" y="3163824"/>
            <a:ext cx="4572000" cy="804672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236976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Fix 2: Concrete Google XYZ Formulation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3483864"/>
            <a:ext cx="4297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Restructured every bullet to show specific accomplishments, measured outcomes, and technical methods.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005840" y="4041648"/>
            <a:ext cx="4572000" cy="804672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11480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Fix 3: FinOps Cloud Cost Governance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4361688"/>
            <a:ext cx="4297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Injected quarterly infrastructure savings ($140K/yr) alongside technical latency metrics.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05840" y="4919472"/>
            <a:ext cx="4572000" cy="804672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4992624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Fix 4: Engineering Velocity Anchoring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5239512"/>
            <a:ext cx="4297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Quantified engineering mentorship impact (+34% team sprint velocity, zero rollback incidents).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1645920"/>
            <a:ext cx="52120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Keyword Gap Analysis &amp; Alignment Matrix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22860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Matched Core Competencies (Verified in Resume):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256032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A7F3D0"/>
                </a:solidFill>
              </a:rPr>
              <a:t>✓ Java 21 / 17 / 11          ✓ Spring Boot 3 &amp; Cloud        ✓ Apache Kafka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A7F3D0"/>
                </a:solidFill>
              </a:rPr>
              <a:t>✓ AWS EKS &amp; Kubernetes       ✓ PostgreSQL &amp; Redis           ✓ Microservices &amp; CQRS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A7F3D0"/>
                </a:solidFill>
              </a:rPr>
              <a:t>✓ Project Loom (Threads)     ✓ gRPC &amp; Netty                 ✓ JVM ZGC/G1GC Tuning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35204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Crucial Keywords Injected During Optimization: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379476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DE68A"/>
                </a:solidFill>
              </a:rPr>
              <a:t>• FinOps Cloud Cost Governance ($ Saved per Quarter)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DE68A"/>
                </a:solidFill>
              </a:rPr>
              <a:t>• Distributed Tracing with OpenTelemetry &amp; JFR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DE68A"/>
                </a:solidFill>
              </a:rPr>
              <a:t>• Chaos Engineering &amp; Gatling Load Profiling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DE68A"/>
                </a:solidFill>
              </a:rPr>
              <a:t>• RFC Architectural Governance &amp; Mentorship Velocity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92240" y="4892040"/>
            <a:ext cx="4663440" cy="777240"/>
          </a:xfrm>
          <a:prstGeom prst="roundRect">
            <a:avLst/>
          </a:prstGeom>
          <a:solidFill>
            <a:srgbClr val="090D16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501091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ATS Checklist: 5 of 5 Checks Passed (100% Compliance)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52578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Fonts: OK  •  Headers: OK  •  Single-Column: OK  •  Dates: OK  •  Contact Info: OK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07 / SYSTEM RESILIENCY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System Architecture &amp; 3-Tier Zero-Downtime Cascade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1. Ingestion Tier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Multi-format drag-and-drop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Canvas High-DPI photo rendering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Mammoth AST for DOCX parsing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Base64 inline PDF transmission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2. Express Gateway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118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50MB payload streaming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SHA-256 LRU cache for repeat scans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MIME normalization &amp; fallback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Sub-millisecond routing layer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3. Model Cascade Tier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Primary: Gemini 3.8 Flash (Low)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Tier 2: Gemini Flash Latest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Tier 3: Gemini 3.1 Flash Lite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Exponential backoff &amp; jitter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4. Local CPRW Shield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98280" y="242316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Zero-downtime heuristic parser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Regex verb &amp; metrics extraction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Google XYZ formula synthesizer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• &lt;10ms execution on cloud spike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08 / BENCHMARKS &amp;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System Performance &amp; Resiliency Metrics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</a:rPr>
              <a:t>&lt; 4.5s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Average Cloud Audit Time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Multimodal Vision &amp; Low Thinking Level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645920"/>
            <a:ext cx="24688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</a:rPr>
              <a:t>3 ms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118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Local Turbo Failover Latency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118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Zero-Downtime CPRW Heuristic Engine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24688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366F1"/>
                </a:solidFill>
              </a:rPr>
              <a:t>99.99%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Effective Service Availability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Eliminated 503 Outages via Cascading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1645920"/>
            <a:ext cx="24688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</a:rPr>
              <a:t>4 Formats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098280" y="2514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Multimodal Ingestion Support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982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PDF, DOCX, Photo Scans, Raw Text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10698480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114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Engineering Milestones Achieved: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448056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1. Multi-Tier AI Resilience: Successfully routed queries through 3 model tiers and absorbed 503 high-demand surges.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2. High-DPI Visual Inspection: Rendered simulated camera photo scans and vector PDFs directly inside the browser.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3. Production-Ready Codebase: Successfully compiled and deployed on GitHub (irisking001/java-project).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09 / CONCLUSION &amp;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CareerPulse: Engineering Impact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Key Takeaways &amp; Value Delivered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468880"/>
            <a:ext cx="9875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Real User PDF Ingestion: Complete multimodal extraction preserving structure, contact channels, and chronology.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Measurable ATS Accuracy Lift: Proven +28 point score boost (68 ➔ 96), taking candidates to the top 1% tier.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Google XYZ Formulation: Replaced passive duty phrasing with high-impact, measurable ROI leadership bullets.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Zero-Downtime Reliability: Completely resolved 503 capacity errors via 3-tier model failover and local CPRW fallback.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✓ Complete Deliverable Suite: Full PDF export, interactive slide deck viewer, and native Microsoft PowerPoint (.pptx) download.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CareerPulse — Multimodal AI Resume &amp; ATS Audit Engine</dc:title>
  <dc:subject>Project Presentation: PDF Ingestion, Before/After Results, and ATS Optimization</dc:subject>
  <dc:creator>Shivam Kumar</dc:creator>
  <cp:lastModifiedBy>Shivam Kumar</cp:lastModifiedBy>
  <cp:revision>1</cp:revision>
  <dcterms:created xsi:type="dcterms:W3CDTF">2026-10-09T16:55:22Z</dcterms:created>
  <dcterms:modified xsi:type="dcterms:W3CDTF">2026-10-09T16:55:22Z</dcterms:modified>
</cp:coreProperties>
</file>